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6" r:id="rId10"/>
    <p:sldId id="267" r:id="rId11"/>
    <p:sldId id="268" r:id="rId12"/>
    <p:sldId id="269" r:id="rId13"/>
    <p:sldId id="270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wel Kipkemboi" userId="f78bfa6ecf60e134" providerId="LiveId" clId="{BF32E64A-4A47-46C7-AD89-2525A6D117C0}"/>
    <pc:docChg chg="modSld">
      <pc:chgData name="Samwel Kipkemboi" userId="f78bfa6ecf60e134" providerId="LiveId" clId="{BF32E64A-4A47-46C7-AD89-2525A6D117C0}" dt="2026-02-16T10:47:11.479" v="4" actId="20577"/>
      <pc:docMkLst>
        <pc:docMk/>
      </pc:docMkLst>
      <pc:sldChg chg="modSp mod">
        <pc:chgData name="Samwel Kipkemboi" userId="f78bfa6ecf60e134" providerId="LiveId" clId="{BF32E64A-4A47-46C7-AD89-2525A6D117C0}" dt="2026-02-16T10:47:11.479" v="4" actId="20577"/>
        <pc:sldMkLst>
          <pc:docMk/>
          <pc:sldMk cId="0" sldId="267"/>
        </pc:sldMkLst>
        <pc:spChg chg="mod">
          <ac:chgData name="Samwel Kipkemboi" userId="f78bfa6ecf60e134" providerId="LiveId" clId="{BF32E64A-4A47-46C7-AD89-2525A6D117C0}" dt="2026-02-16T10:47:11.479" v="4" actId="20577"/>
          <ac:spMkLst>
            <pc:docMk/>
            <pc:sldMk cId="0" sldId="267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69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10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345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09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577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257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162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746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064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541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564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08210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0756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7980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544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8369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8717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5BCAD085-E8A6-8845-BD4E-CB4CCA059FC4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8126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77611" y="766916"/>
            <a:ext cx="8008375" cy="1440296"/>
          </a:xfrm>
        </p:spPr>
        <p:txBody>
          <a:bodyPr>
            <a:normAutofit/>
          </a:bodyPr>
          <a:lstStyle/>
          <a:p>
            <a:r>
              <a:rPr lang="en-US" sz="7200" dirty="0"/>
              <a:t>Modern Data Warehouse</a:t>
            </a:r>
            <a:endParaRPr sz="7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2897962"/>
            <a:ext cx="9144000" cy="2131238"/>
          </a:xfrm>
        </p:spPr>
        <p:txBody>
          <a:bodyPr>
            <a:normAutofit/>
          </a:bodyPr>
          <a:lstStyle/>
          <a:p>
            <a:pPr algn="l"/>
            <a:r>
              <a:rPr dirty="0"/>
              <a:t>Samwel Kipkemboi</a:t>
            </a:r>
          </a:p>
          <a:p>
            <a:pPr algn="l"/>
            <a:r>
              <a:rPr dirty="0"/>
              <a:t>Data Analyst | BI | Business Technology</a:t>
            </a:r>
          </a:p>
          <a:p>
            <a:pPr algn="l"/>
            <a:r>
              <a:rPr dirty="0"/>
              <a:t>Tools: SQL Server, ETL, Star Schema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stored in multiple operational systems (CRM and ERP) causes slow, inconsistent reporting that delays business decisions. Hence, n</a:t>
            </a:r>
            <a:r>
              <a:rPr dirty="0"/>
              <a:t>o single source of truth for decision</a:t>
            </a:r>
            <a:r>
              <a:rPr lang="en-US" dirty="0"/>
              <a:t> </a:t>
            </a:r>
            <a:r>
              <a:rPr dirty="0"/>
              <a:t>making</a:t>
            </a:r>
            <a:endParaRPr lang="en-US" dirty="0"/>
          </a:p>
          <a:p>
            <a:endParaRPr dirty="0"/>
          </a:p>
          <a:p>
            <a:r>
              <a:rPr dirty="0"/>
              <a:t>Business insights are delayed and unreliable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716" y="1825625"/>
            <a:ext cx="11044084" cy="3631278"/>
          </a:xfrm>
        </p:spPr>
        <p:txBody>
          <a:bodyPr>
            <a:normAutofit/>
          </a:bodyPr>
          <a:lstStyle/>
          <a:p>
            <a:r>
              <a:rPr lang="en-US" dirty="0"/>
              <a:t>Build a centralized, analytics-ready data warehouse integrating CRM and ERP sales data.</a:t>
            </a:r>
            <a:endParaRPr dirty="0"/>
          </a:p>
          <a:p>
            <a:r>
              <a:rPr lang="en-US" dirty="0"/>
              <a:t>Enable consistent, reliable reporting for business decision-making e</a:t>
            </a:r>
            <a:r>
              <a:rPr dirty="0"/>
              <a:t>nabl</a:t>
            </a:r>
            <a:r>
              <a:rPr lang="en-US" dirty="0"/>
              <a:t>ing</a:t>
            </a:r>
            <a:r>
              <a:rPr dirty="0"/>
              <a:t> faster reporting and decision-making</a:t>
            </a:r>
            <a:endParaRPr lang="en-US" dirty="0"/>
          </a:p>
          <a:p>
            <a:r>
              <a:rPr lang="en-US" dirty="0"/>
              <a:t>Apply Medallion Architecture for structured data layers</a:t>
            </a:r>
          </a:p>
          <a:p>
            <a:r>
              <a:rPr lang="en-US" dirty="0"/>
              <a:t>Implement data cleansing, standardization, and transformation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28800" y="250825"/>
            <a:ext cx="6443666" cy="1325563"/>
          </a:xfrm>
        </p:spPr>
        <p:txBody>
          <a:bodyPr>
            <a:normAutofit fontScale="90000"/>
          </a:bodyPr>
          <a:lstStyle/>
          <a:p>
            <a:r>
              <a:rPr u="sng" dirty="0"/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15100" y="1825625"/>
            <a:ext cx="4838700" cy="4351338"/>
          </a:xfrm>
        </p:spPr>
        <p:txBody>
          <a:bodyPr/>
          <a:lstStyle/>
          <a:p>
            <a:r>
              <a:rPr dirty="0"/>
              <a:t>Bronze Layer: Raw data ingestion</a:t>
            </a:r>
          </a:p>
          <a:p>
            <a:r>
              <a:rPr dirty="0"/>
              <a:t>Silver Layer: Cleaned and standardized data</a:t>
            </a:r>
          </a:p>
          <a:p>
            <a:r>
              <a:rPr dirty="0"/>
              <a:t>Gold Layer: Analytics-ready data models</a:t>
            </a:r>
          </a:p>
          <a:p>
            <a:r>
              <a:rPr dirty="0"/>
              <a:t>Supports scalable BI and reporting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97445-E427-DF67-F1F9-18FA99B5E2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2" y="1576388"/>
            <a:ext cx="5300664" cy="3871912"/>
          </a:xfrm>
          <a:prstGeom prst="round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6D18B1-11A7-3637-2DE9-7FCCC6E18898}"/>
              </a:ext>
            </a:extLst>
          </p:cNvPr>
          <p:cNvSpPr txBox="1"/>
          <p:nvPr/>
        </p:nvSpPr>
        <p:spPr>
          <a:xfrm>
            <a:off x="1253613" y="6312310"/>
            <a:ext cx="90407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 dirty="0"/>
              <a:t>Data Sources Include CRM and ERP system data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4225" y="92074"/>
            <a:ext cx="4610100" cy="1325563"/>
          </a:xfrm>
        </p:spPr>
        <p:txBody>
          <a:bodyPr/>
          <a:lstStyle/>
          <a:p>
            <a:r>
              <a:rPr u="sng" dirty="0"/>
              <a:t>ETL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57952" y="1715294"/>
            <a:ext cx="5943598" cy="4351338"/>
          </a:xfrm>
        </p:spPr>
        <p:txBody>
          <a:bodyPr/>
          <a:lstStyle/>
          <a:p>
            <a:r>
              <a:rPr lang="en-US" dirty="0"/>
              <a:t>Perform full data loads to populate Bronze and Gold layers</a:t>
            </a:r>
          </a:p>
          <a:p>
            <a:r>
              <a:rPr dirty="0"/>
              <a:t>Extract data from source systems</a:t>
            </a:r>
          </a:p>
          <a:p>
            <a:r>
              <a:rPr dirty="0"/>
              <a:t>Load raw data into Bronze layer</a:t>
            </a:r>
          </a:p>
          <a:p>
            <a:r>
              <a:rPr dirty="0"/>
              <a:t>Transform and clean data in Silver layer</a:t>
            </a:r>
          </a:p>
          <a:p>
            <a:r>
              <a:rPr dirty="0"/>
              <a:t>Model and aggregate into Gold layer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A30D2A-2CC8-154E-83AE-B71866213D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" y="1366837"/>
            <a:ext cx="6329364" cy="3890963"/>
          </a:xfrm>
          <a:prstGeom prst="round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A085B2B-FF54-9B15-2200-630511A6400D}"/>
              </a:ext>
            </a:extLst>
          </p:cNvPr>
          <p:cNvSpPr txBox="1"/>
          <p:nvPr/>
        </p:nvSpPr>
        <p:spPr>
          <a:xfrm>
            <a:off x="128587" y="5555457"/>
            <a:ext cx="89296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/>
              <a:t>Automation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Use stored procedures to automate ETL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Scheduled to run weekly to maintain up-to-date warehouse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Data Quality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Develops Data Quality Checks;</a:t>
            </a:r>
          </a:p>
          <a:p>
            <a:r>
              <a:rPr dirty="0"/>
              <a:t>Completeness checks</a:t>
            </a:r>
          </a:p>
          <a:p>
            <a:r>
              <a:rPr dirty="0"/>
              <a:t>Accuracy validation</a:t>
            </a:r>
          </a:p>
          <a:p>
            <a:r>
              <a:rPr dirty="0"/>
              <a:t>Consistency enforcement</a:t>
            </a:r>
          </a:p>
          <a:p>
            <a:r>
              <a:rPr dirty="0"/>
              <a:t>Only validated data moves to analytics layer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3730" y="18255"/>
            <a:ext cx="4581525" cy="1325563"/>
          </a:xfrm>
        </p:spPr>
        <p:txBody>
          <a:bodyPr/>
          <a:lstStyle/>
          <a:p>
            <a:r>
              <a:rPr dirty="0"/>
              <a:t>Data Modeling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0" y="1825625"/>
            <a:ext cx="5257800" cy="4351338"/>
          </a:xfrm>
        </p:spPr>
        <p:txBody>
          <a:bodyPr/>
          <a:lstStyle/>
          <a:p>
            <a:r>
              <a:rPr dirty="0"/>
              <a:t>Star schema implementation</a:t>
            </a:r>
          </a:p>
          <a:p>
            <a:r>
              <a:rPr dirty="0"/>
              <a:t>Fact table for transactions</a:t>
            </a:r>
          </a:p>
          <a:p>
            <a:r>
              <a:rPr dirty="0"/>
              <a:t>Dimension tables for customers and products</a:t>
            </a:r>
          </a:p>
          <a:p>
            <a:r>
              <a:rPr dirty="0"/>
              <a:t>Optimized for analytics and BI queries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4ADCF8-DEEF-5A5E-426F-CC6FEB53F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38" y="1343024"/>
            <a:ext cx="5910262" cy="3571875"/>
          </a:xfrm>
          <a:prstGeom prst="round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SQL Server</a:t>
            </a:r>
          </a:p>
          <a:p>
            <a:r>
              <a:rPr dirty="0"/>
              <a:t>SQL Server Management Studio (SSMS)</a:t>
            </a:r>
          </a:p>
          <a:p>
            <a:r>
              <a:rPr dirty="0"/>
              <a:t>Draw.io for architecture design</a:t>
            </a:r>
          </a:p>
          <a:p>
            <a:r>
              <a:rPr dirty="0"/>
              <a:t>GitHub for version control</a:t>
            </a:r>
          </a:p>
          <a:p>
            <a:r>
              <a:rPr dirty="0"/>
              <a:t>Trello for project 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/>
              <a:t>Challenges </a:t>
            </a:r>
            <a:r>
              <a:rPr lang="en-US" u="sng" dirty="0"/>
              <a:t>and</a:t>
            </a:r>
            <a:r>
              <a:rPr u="sng" dirty="0"/>
              <a:t>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Messy source data → implemented cleansing logic</a:t>
            </a:r>
          </a:p>
          <a:p>
            <a:r>
              <a:rPr dirty="0"/>
              <a:t>Inconsistent formats → standardized transformation rules</a:t>
            </a:r>
          </a:p>
          <a:p>
            <a:r>
              <a:rPr dirty="0"/>
              <a:t>Integration complexity → structured schema design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966789" y="4249669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25000"/>
                        <a:lumOff val="75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Centralized and reliable reporting</a:t>
            </a:r>
          </a:p>
          <a:p>
            <a:r>
              <a:rPr lang="en-US" dirty="0"/>
              <a:t>Faster decision-making</a:t>
            </a:r>
          </a:p>
          <a:p>
            <a:r>
              <a:rPr lang="en-US" dirty="0"/>
              <a:t>Consistent KPIs across departments</a:t>
            </a:r>
          </a:p>
          <a:p>
            <a:r>
              <a:rPr lang="en-US" dirty="0"/>
              <a:t>Improved trust in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64C78B-BF58-E4BA-2630-6809AEBB8D9F}"/>
              </a:ext>
            </a:extLst>
          </p:cNvPr>
          <p:cNvSpPr txBox="1"/>
          <p:nvPr/>
        </p:nvSpPr>
        <p:spPr>
          <a:xfrm>
            <a:off x="966789" y="3512414"/>
            <a:ext cx="36337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u="sng" dirty="0">
                <a:solidFill>
                  <a:schemeClr val="bg2">
                    <a:lumMod val="20000"/>
                    <a:lumOff val="80000"/>
                  </a:schemeClr>
                </a:solidFill>
              </a:rPr>
              <a:t>Business Value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Automate ETL pipelines</a:t>
            </a:r>
          </a:p>
          <a:p>
            <a:r>
              <a:rPr dirty="0"/>
              <a:t>Cloud migration (</a:t>
            </a:r>
            <a:r>
              <a:t>Azure )</a:t>
            </a:r>
            <a:endParaRPr dirty="0"/>
          </a:p>
          <a:p>
            <a:r>
              <a:rPr dirty="0"/>
              <a:t>Real-time data ingestion</a:t>
            </a:r>
          </a:p>
          <a:p>
            <a:r>
              <a:rPr dirty="0"/>
              <a:t>Dashboard integration (Power BI)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dirty="0"/>
          </a:p>
          <a:p>
            <a:r>
              <a:rPr lang="en-US" dirty="0"/>
              <a:t>This project b</a:t>
            </a:r>
            <a:r>
              <a:rPr dirty="0"/>
              <a:t>ridges business needs with technical solutions</a:t>
            </a:r>
          </a:p>
          <a:p>
            <a:r>
              <a:rPr dirty="0"/>
              <a:t>Enables analytics, reporting, and decision support</a:t>
            </a:r>
            <a:endParaRPr lang="en-US" dirty="0"/>
          </a:p>
          <a:p>
            <a:r>
              <a:rPr lang="en-US" dirty="0"/>
              <a:t>It bridges operational systems (CRM and ERP) with a BI-ready reporting environment.</a:t>
            </a:r>
            <a:endParaRPr dirty="0"/>
          </a:p>
          <a:p>
            <a:r>
              <a:rPr dirty="0"/>
              <a:t>Ready for production</a:t>
            </a:r>
            <a:r>
              <a:rPr lang="en-US" dirty="0"/>
              <a:t> </a:t>
            </a:r>
            <a:r>
              <a:rPr dirty="0"/>
              <a:t>level BI environments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93E3F5-7BC7-9C40-01E2-EFDCE033B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8763" y="2169317"/>
            <a:ext cx="12353925" cy="2717008"/>
          </a:xfrm>
        </p:spPr>
        <p:txBody>
          <a:bodyPr>
            <a:normAutofit/>
          </a:bodyPr>
          <a:lstStyle/>
          <a:p>
            <a:r>
              <a:rPr lang="en-US" sz="6600" b="1" dirty="0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654168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1564B-87EF-974A-D12D-88CD2B68C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675" y="1027906"/>
            <a:ext cx="10515600" cy="1325563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E53D7-5AD1-E8F2-1D31-3DD168D4B4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00" y="5326063"/>
            <a:ext cx="5966600" cy="13255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SAMWEL KIPKEMBOI</a:t>
            </a:r>
          </a:p>
          <a:p>
            <a:pPr marL="0" indent="0">
              <a:buNone/>
            </a:pPr>
            <a:r>
              <a:rPr lang="en-US" dirty="0"/>
              <a:t>Email: samkemboi201@gmail.com</a:t>
            </a:r>
          </a:p>
        </p:txBody>
      </p:sp>
    </p:spTree>
    <p:extLst>
      <p:ext uri="{BB962C8B-B14F-4D97-AF65-F5344CB8AC3E}">
        <p14:creationId xmlns:p14="http://schemas.microsoft.com/office/powerpoint/2010/main" val="1107933928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84</TotalTime>
  <Words>370</Words>
  <Application>Microsoft Office PowerPoint</Application>
  <PresentationFormat>Widescreen</PresentationFormat>
  <Paragraphs>69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Corbel</vt:lpstr>
      <vt:lpstr>Depth</vt:lpstr>
      <vt:lpstr>Modern Data Warehouse</vt:lpstr>
      <vt:lpstr>Business Problem</vt:lpstr>
      <vt:lpstr>Project Objective</vt:lpstr>
      <vt:lpstr>Architecture Overview</vt:lpstr>
      <vt:lpstr>ETL Pipeline</vt:lpstr>
      <vt:lpstr>Data Quality Approach</vt:lpstr>
      <vt:lpstr>Data Modeling</vt:lpstr>
      <vt:lpstr>Tools &amp; Technologies</vt:lpstr>
      <vt:lpstr>Challenges and Solutions</vt:lpstr>
      <vt:lpstr>Future Improvements</vt:lpstr>
      <vt:lpstr>Conclusion</vt:lpstr>
      <vt:lpstr>Questions?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samwel</dc:creator>
  <cp:keywords/>
  <dc:description>generated using python-pptx</dc:description>
  <cp:lastModifiedBy>Samwel Kipkemboi</cp:lastModifiedBy>
  <cp:revision>2</cp:revision>
  <dcterms:created xsi:type="dcterms:W3CDTF">2013-01-27T09:14:16Z</dcterms:created>
  <dcterms:modified xsi:type="dcterms:W3CDTF">2026-02-16T10:47:19Z</dcterms:modified>
  <cp:category/>
</cp:coreProperties>
</file>